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365" r:id="rId3"/>
    <p:sldId id="372" r:id="rId4"/>
    <p:sldId id="366" r:id="rId5"/>
    <p:sldId id="313" r:id="rId6"/>
    <p:sldId id="383" r:id="rId7"/>
    <p:sldId id="381" r:id="rId8"/>
    <p:sldId id="382" r:id="rId9"/>
    <p:sldId id="384" r:id="rId10"/>
    <p:sldId id="385" r:id="rId11"/>
    <p:sldId id="368" r:id="rId12"/>
    <p:sldId id="307" r:id="rId13"/>
    <p:sldId id="333" r:id="rId14"/>
    <p:sldId id="309" r:id="rId15"/>
    <p:sldId id="376" r:id="rId16"/>
    <p:sldId id="377" r:id="rId17"/>
    <p:sldId id="386" r:id="rId18"/>
    <p:sldId id="393" r:id="rId19"/>
    <p:sldId id="370" r:id="rId20"/>
    <p:sldId id="390" r:id="rId21"/>
    <p:sldId id="387" r:id="rId22"/>
    <p:sldId id="388" r:id="rId23"/>
    <p:sldId id="392" r:id="rId24"/>
    <p:sldId id="391" r:id="rId25"/>
    <p:sldId id="389" r:id="rId26"/>
    <p:sldId id="341" r:id="rId27"/>
    <p:sldId id="265" r:id="rId28"/>
    <p:sldId id="273" r:id="rId29"/>
    <p:sldId id="367" r:id="rId30"/>
    <p:sldId id="300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05" autoAdjust="0"/>
    <p:restoredTop sz="99642" autoAdjust="0"/>
  </p:normalViewPr>
  <p:slideViewPr>
    <p:cSldViewPr>
      <p:cViewPr varScale="1">
        <p:scale>
          <a:sx n="99" d="100"/>
          <a:sy n="99" d="100"/>
        </p:scale>
        <p:origin x="138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D0D881-1E97-4391-B306-045B297F7C6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537EFB-446F-4672-937C-C340D97CA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289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33cf94f02c_0_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33cf94f02c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4859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D95243CB-1565-4AC8-BDCB-F5C75189806D}" type="datetime1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88224" y="6093296"/>
            <a:ext cx="2133600" cy="365125"/>
          </a:xfrm>
        </p:spPr>
        <p:txBody>
          <a:bodyPr/>
          <a:lstStyle>
            <a:lvl1pPr>
              <a:defRPr sz="1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093C3A13-1AF7-4133-9DD0-E673BF3672EC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0900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BF6B1-DABD-4ACF-97BA-82E854A29DDC}" type="datetime1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88224" y="6093296"/>
            <a:ext cx="2133600" cy="365125"/>
          </a:xfrm>
        </p:spPr>
        <p:txBody>
          <a:bodyPr/>
          <a:lstStyle>
            <a:lvl1pPr>
              <a:defRPr sz="1400" b="1"/>
            </a:lvl1pPr>
          </a:lstStyle>
          <a:p>
            <a:fld id="{093C3A13-1AF7-4133-9DD0-E673BF3672EC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5887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2D70-C107-4F19-8D2D-E10526F3E396}" type="datetime1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16216" y="6093296"/>
            <a:ext cx="2133600" cy="365125"/>
          </a:xfrm>
        </p:spPr>
        <p:txBody>
          <a:bodyPr/>
          <a:lstStyle/>
          <a:p>
            <a:fld id="{093C3A13-1AF7-4133-9DD0-E673BF367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3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30912-BB2B-476D-9153-53742FDD9B32}" type="datetime1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41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82334-E378-4B04-BE3B-2EF9F34183AB}" type="datetime1">
              <a:rPr lang="en-IN" smtClean="0"/>
              <a:t>11-02-2026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398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4C279-CD86-46C6-A3AD-518FF2E6AFE3}" type="datetime1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118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1F9E6-A54A-4104-842E-3BE1DCAC0EF7}" type="datetime1">
              <a:rPr lang="en-IN" smtClean="0"/>
              <a:t>11-02-2026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155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1A1E7-BEA4-4DF3-BEBF-0B69C81B150A}" type="datetime1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75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06637-B217-4F7C-AE64-D8899C43F891}" type="datetime1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812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C02E4-B52E-4333-9B7E-7D70C304C685}" type="datetime1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586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28246-EEA0-4C8F-8CDE-48065D48B361}" type="datetime1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380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98CB341-F405-49BB-A34A-4186944A5E2F}" type="datetime1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093C3A13-1AF7-4133-9DD0-E673BF3672E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739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/>
          <p:nvPr/>
        </p:nvSpPr>
        <p:spPr>
          <a:xfrm>
            <a:off x="222000" y="980728"/>
            <a:ext cx="8700000" cy="5171005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633" y="1052736"/>
            <a:ext cx="885519" cy="834887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 txBox="1"/>
          <p:nvPr/>
        </p:nvSpPr>
        <p:spPr>
          <a:xfrm>
            <a:off x="1547037" y="1144663"/>
            <a:ext cx="6446700" cy="86174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algn="ctr">
              <a:buClr>
                <a:srgbClr val="000000"/>
              </a:buClr>
              <a:buSzPts val="1700"/>
            </a:pPr>
            <a:r>
              <a:rPr lang="en" sz="2000" b="1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National Institute of Technology Puducherry</a:t>
            </a:r>
          </a:p>
          <a:p>
            <a:pPr algn="ctr">
              <a:buClr>
                <a:srgbClr val="000000"/>
              </a:buClr>
              <a:buSzPts val="1700"/>
            </a:pPr>
            <a:r>
              <a:rPr lang="en-US" altLang="en-US" sz="1050" b="1" dirty="0">
                <a:solidFill>
                  <a:srgbClr val="1F3864"/>
                </a:solidFill>
                <a:latin typeface="Arial"/>
                <a:cs typeface="Arial"/>
              </a:rPr>
              <a:t> (An Institute of National Importance under </a:t>
            </a:r>
            <a:r>
              <a:rPr lang="en-US" altLang="en-US" sz="1050" b="1" dirty="0" err="1">
                <a:solidFill>
                  <a:srgbClr val="1F3864"/>
                </a:solidFill>
                <a:latin typeface="Arial"/>
                <a:cs typeface="Arial"/>
              </a:rPr>
              <a:t>MoE</a:t>
            </a:r>
            <a:r>
              <a:rPr lang="en-US" altLang="en-US" sz="1050" b="1" dirty="0">
                <a:solidFill>
                  <a:srgbClr val="1F3864"/>
                </a:solidFill>
                <a:latin typeface="Arial"/>
                <a:cs typeface="Arial"/>
              </a:rPr>
              <a:t>, Govt. of India)</a:t>
            </a:r>
            <a:endParaRPr sz="1050" b="1" dirty="0">
              <a:solidFill>
                <a:srgbClr val="1F3864"/>
              </a:solidFill>
              <a:latin typeface="Arial"/>
              <a:cs typeface="Arial"/>
              <a:sym typeface="Calibri"/>
            </a:endParaRPr>
          </a:p>
          <a:p>
            <a:pPr algn="ctr">
              <a:spcBef>
                <a:spcPts val="600"/>
              </a:spcBef>
              <a:buClr>
                <a:srgbClr val="000000"/>
              </a:buClr>
              <a:buSzPts val="1200"/>
            </a:pPr>
            <a:r>
              <a:rPr lang="en" sz="1600" b="1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Department of Computer Science and Engineering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5"/>
          <p:cNvSpPr txBox="1"/>
          <p:nvPr/>
        </p:nvSpPr>
        <p:spPr>
          <a:xfrm>
            <a:off x="323528" y="2549689"/>
            <a:ext cx="8424936" cy="1854323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algn="ctr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 b="1" u="sng">
                <a:solidFill>
                  <a:srgbClr val="953735"/>
                </a:solidFill>
              </a:defRPr>
            </a:pPr>
            <a:r>
              <a:rPr lang="en-US" dirty="0"/>
              <a:t>IP1402- PROJECT III</a:t>
            </a:r>
          </a:p>
          <a:p>
            <a:pPr algn="ctr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 b="1" u="sng">
                <a:solidFill>
                  <a:srgbClr val="953735"/>
                </a:solidFill>
              </a:defRPr>
            </a:pPr>
            <a:r>
              <a:rPr lang="en-US" dirty="0"/>
              <a:t>First Review</a:t>
            </a:r>
          </a:p>
          <a:p>
            <a:pPr algn="ctr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 b="1" u="sng">
                <a:solidFill>
                  <a:srgbClr val="953735"/>
                </a:solidFill>
              </a:defRPr>
            </a:pPr>
            <a:r>
              <a:rPr lang="en-US" sz="1200" dirty="0"/>
              <a:t> 12/02/2026</a:t>
            </a:r>
          </a:p>
          <a:p>
            <a:pPr algn="ctr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 b="1" u="sng">
                <a:solidFill>
                  <a:srgbClr val="953735"/>
                </a:solidFill>
              </a:defRPr>
            </a:pPr>
            <a:r>
              <a:rPr lang="en-US" sz="2800" b="1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AI-based Automatic Road Network Extraction from Satellite Imagery </a:t>
            </a:r>
          </a:p>
        </p:txBody>
      </p:sp>
      <p:sp>
        <p:nvSpPr>
          <p:cNvPr id="133" name="Google Shape;133;p25"/>
          <p:cNvSpPr txBox="1"/>
          <p:nvPr/>
        </p:nvSpPr>
        <p:spPr>
          <a:xfrm>
            <a:off x="559982" y="4444166"/>
            <a:ext cx="3778102" cy="122338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algn="ctr">
              <a:buClr>
                <a:srgbClr val="000000"/>
              </a:buClr>
              <a:buSzPts val="1500"/>
            </a:pPr>
            <a:r>
              <a:rPr lang="en-US" sz="1500" dirty="0">
                <a:solidFill>
                  <a:srgbClr val="1F3864"/>
                </a:solidFill>
                <a:latin typeface="Garamond"/>
                <a:ea typeface="Garamond"/>
                <a:cs typeface="Garamond"/>
                <a:sym typeface="Garamond"/>
              </a:rPr>
              <a:t>Presented By:</a:t>
            </a:r>
          </a:p>
          <a:p>
            <a:pPr algn="ctr">
              <a:buClr>
                <a:srgbClr val="000000"/>
              </a:buClr>
              <a:buSzPts val="1500"/>
            </a:pPr>
            <a:r>
              <a:rPr lang="en-US" sz="1500" b="1" dirty="0">
                <a:solidFill>
                  <a:srgbClr val="1F3864"/>
                </a:solidFill>
                <a:latin typeface="Garamond"/>
                <a:ea typeface="Garamond"/>
                <a:cs typeface="Garamond"/>
                <a:sym typeface="Garamond"/>
              </a:rPr>
              <a:t>Aditya Ranganathan Arun (CS22B1002)</a:t>
            </a:r>
          </a:p>
          <a:p>
            <a:pPr algn="ctr">
              <a:buSzPts val="1500"/>
            </a:pPr>
            <a:r>
              <a:rPr lang="en-US" sz="1500" b="1" dirty="0">
                <a:solidFill>
                  <a:srgbClr val="1F3864"/>
                </a:solidFill>
                <a:latin typeface="Garamond"/>
                <a:ea typeface="Garamond"/>
                <a:cs typeface="Garamond"/>
                <a:sym typeface="Garamond"/>
              </a:rPr>
              <a:t>Annisha Rachel de Souza (CS22B1004)</a:t>
            </a:r>
            <a:endParaRPr lang="en-US" sz="15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algn="ctr">
              <a:buSzPts val="1500"/>
            </a:pPr>
            <a:r>
              <a:rPr lang="en-US" sz="1500" b="1" dirty="0">
                <a:solidFill>
                  <a:srgbClr val="1F3864"/>
                </a:solidFill>
                <a:latin typeface="Garamond"/>
                <a:ea typeface="Garamond"/>
                <a:cs typeface="Garamond"/>
                <a:sym typeface="Garamond"/>
              </a:rPr>
              <a:t>Shivakumar B. (CS22B1052)</a:t>
            </a:r>
            <a:endParaRPr lang="en-US" sz="15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algn="ctr">
              <a:buClr>
                <a:srgbClr val="000000"/>
              </a:buClr>
              <a:buSzPts val="1500"/>
            </a:pPr>
            <a:endParaRPr lang="en-US" sz="1500" b="1" dirty="0">
              <a:solidFill>
                <a:srgbClr val="1F3864"/>
              </a:solidFill>
              <a:latin typeface="Garamond"/>
              <a:ea typeface="Calibri"/>
              <a:cs typeface="Calibri"/>
              <a:sym typeface="Garamond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4805916" y="4421714"/>
            <a:ext cx="3778103" cy="122338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algn="ctr">
              <a:buClr>
                <a:srgbClr val="000000"/>
              </a:buClr>
              <a:buSzPts val="1500"/>
            </a:pPr>
            <a:r>
              <a:rPr lang="en-US" sz="1500" dirty="0">
                <a:solidFill>
                  <a:srgbClr val="1F3864"/>
                </a:solidFill>
                <a:latin typeface="Garamond"/>
                <a:ea typeface="Garamond"/>
                <a:cs typeface="Garamond"/>
                <a:sym typeface="Garamond"/>
              </a:rPr>
              <a:t>Guide:</a:t>
            </a:r>
          </a:p>
          <a:p>
            <a:pPr algn="ctr">
              <a:buClr>
                <a:srgbClr val="000000"/>
              </a:buClr>
              <a:buSzPts val="1500"/>
            </a:pPr>
            <a:r>
              <a:rPr lang="en-US" sz="1500" b="1" dirty="0">
                <a:solidFill>
                  <a:srgbClr val="1F3864"/>
                </a:solidFill>
                <a:latin typeface="Garamond"/>
                <a:ea typeface="Garamond"/>
                <a:cs typeface="Garamond"/>
                <a:sym typeface="Garamond"/>
              </a:rPr>
              <a:t>Dr. Venkatesan M.</a:t>
            </a:r>
          </a:p>
          <a:p>
            <a:pPr algn="ctr">
              <a:buClr>
                <a:srgbClr val="000000"/>
              </a:buClr>
              <a:buSzPts val="1500"/>
            </a:pPr>
            <a:r>
              <a:rPr lang="en-US" sz="1500" dirty="0">
                <a:solidFill>
                  <a:srgbClr val="1F3864"/>
                </a:solidFill>
                <a:latin typeface="Garamond"/>
                <a:ea typeface="Garamond"/>
                <a:cs typeface="Garamond"/>
                <a:sym typeface="Garamond"/>
              </a:rPr>
              <a:t>Associate Professor &amp; </a:t>
            </a:r>
            <a:r>
              <a:rPr lang="en-US" sz="1500" dirty="0" err="1">
                <a:solidFill>
                  <a:srgbClr val="1F3864"/>
                </a:solidFill>
                <a:latin typeface="Garamond"/>
                <a:ea typeface="Garamond"/>
                <a:cs typeface="Garamond"/>
                <a:sym typeface="Garamond"/>
              </a:rPr>
              <a:t>HoD</a:t>
            </a:r>
            <a:r>
              <a:rPr lang="en-US" sz="1500" dirty="0">
                <a:solidFill>
                  <a:srgbClr val="1F3864"/>
                </a:solidFill>
                <a:latin typeface="Garamond"/>
                <a:ea typeface="Garamond"/>
                <a:cs typeface="Garamond"/>
                <a:sym typeface="Garamond"/>
              </a:rPr>
              <a:t>, </a:t>
            </a:r>
          </a:p>
          <a:p>
            <a:pPr algn="ctr">
              <a:buClr>
                <a:srgbClr val="000000"/>
              </a:buClr>
              <a:buSzPts val="1500"/>
            </a:pPr>
            <a:r>
              <a:rPr lang="en-US" sz="1500" dirty="0">
                <a:solidFill>
                  <a:srgbClr val="1F3864"/>
                </a:solidFill>
                <a:latin typeface="Garamond"/>
                <a:ea typeface="Garamond"/>
                <a:cs typeface="Garamond"/>
                <a:sym typeface="Garamond"/>
              </a:rPr>
              <a:t>Department of CSE</a:t>
            </a:r>
          </a:p>
          <a:p>
            <a:pPr algn="ctr">
              <a:buClr>
                <a:srgbClr val="000000"/>
              </a:buClr>
              <a:buSzPts val="1500"/>
            </a:pPr>
            <a:r>
              <a:rPr lang="en-US" sz="1500" dirty="0">
                <a:solidFill>
                  <a:srgbClr val="1F3864"/>
                </a:solidFill>
                <a:latin typeface="Garamond"/>
                <a:ea typeface="Garamond"/>
                <a:cs typeface="Garamond"/>
                <a:sym typeface="Garamond"/>
              </a:rPr>
              <a:t>National Institute of Technology Puducherry</a:t>
            </a:r>
            <a:endParaRPr lang="en-US" sz="15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4006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800" dirty="0"/>
              <a:t>Introduction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/>
              <a:t>Motivation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/>
              <a:t>Literature Survey</a:t>
            </a:r>
            <a:endParaRPr lang="en-IN" sz="2800" dirty="0">
              <a:solidFill>
                <a:srgbClr val="0070C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/>
              <a:t>Gaps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/>
              <a:t>Problem Statement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/>
              <a:t>Objectives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/>
              <a:t>Dataset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/>
              <a:t>Methodology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/>
              <a:t>Results(if any, in the form of graphs, charts, </a:t>
            </a:r>
            <a:r>
              <a:rPr lang="en-IN" sz="2800" dirty="0" err="1"/>
              <a:t>etc</a:t>
            </a:r>
            <a:r>
              <a:rPr lang="en-IN" sz="2800" dirty="0"/>
              <a:t>) &amp; 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/>
              <a:t>Applications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/>
              <a:t>References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/>
              <a:t>Individual Contributions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pPr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7825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7989E-80D4-CB03-8A3C-31D4EEF40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0310-A686-4F5C-2F8B-63FABFC29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D1B72BF-8293-EF17-23CF-01C58D304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312" y="1268760"/>
            <a:ext cx="8229600" cy="492514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000" dirty="0"/>
              <a:t>Road network extraction is a major requirement for policy-makers, </a:t>
            </a:r>
            <a:r>
              <a:rPr lang="en-US" sz="2000" dirty="0"/>
              <a:t>urban planning, transportation management, and disaster response</a:t>
            </a:r>
            <a:r>
              <a:rPr lang="en-IN" sz="2000" b="1" dirty="0"/>
              <a:t>.</a:t>
            </a:r>
            <a:r>
              <a:rPr lang="en-IN" sz="2000" dirty="0"/>
              <a:t> </a:t>
            </a:r>
            <a:r>
              <a:rPr lang="en-GB" sz="2000" dirty="0"/>
              <a:t>With the increasing availability of high-resolution imagery from Indian remote sensing satellites, there is a growing need for automated methods that can reliably extract road networks at scale. Road extraction is formulated as a semantic segmentation problem, and a high-performance deep learning–based image recognition model is developed to delineate road surfaces from complex backgrounds. </a:t>
            </a:r>
            <a:endParaRPr lang="en-IN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9928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0B2CB8-D1C9-E5A0-5C9B-88BB13ED80E9}"/>
              </a:ext>
            </a:extLst>
          </p:cNvPr>
          <p:cNvSpPr txBox="1"/>
          <p:nvPr/>
        </p:nvSpPr>
        <p:spPr>
          <a:xfrm>
            <a:off x="3419872" y="2780928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7DFA46E7-6DD1-11E5-6974-B7D420D7D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340768"/>
            <a:ext cx="8229600" cy="492514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/>
              <a:t>Accurate and up-to-date road network information is essential for urban planning, transportation management, disaster response, and policy-making. However, manual extraction and updating of road maps from satellite imagery is time-consuming, costly, and impractical for large and rapidly changing regions like India. The diversity of landscapes, varying road widths, occlusions from shadows and vegetation, and visually similar background features make automated extraction a challenging task for traditional methods. With the increasing availability of high-resolution remote sensing data, there is a strong need for robust and scalable automated solutions. Deep learning–based semantic segmentation provides the capability to learn complex and multi-scale features, enabling reliable and efficient extraction of road networks from complex environments.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32376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00805"/>
            <a:ext cx="8784976" cy="291891"/>
          </a:xfrm>
        </p:spPr>
        <p:txBody>
          <a:bodyPr>
            <a:normAutofit fontScale="90000"/>
          </a:bodyPr>
          <a:lstStyle/>
          <a:p>
            <a:r>
              <a:rPr lang="en-IN" dirty="0"/>
              <a:t>Literature Survey </a:t>
            </a:r>
            <a:br>
              <a:rPr lang="en-IN" dirty="0">
                <a:solidFill>
                  <a:srgbClr val="FF0000"/>
                </a:solidFill>
              </a:rPr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pPr/>
              <a:t>5</a:t>
            </a:fld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12B10BA-AA3A-3DD9-7138-D6C2672208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509480"/>
              </p:ext>
            </p:extLst>
          </p:nvPr>
        </p:nvGraphicFramePr>
        <p:xfrm>
          <a:off x="251521" y="687862"/>
          <a:ext cx="8640958" cy="60437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8231">
                  <a:extLst>
                    <a:ext uri="{9D8B030D-6E8A-4147-A177-3AD203B41FA5}">
                      <a16:colId xmlns:a16="http://schemas.microsoft.com/office/drawing/2014/main" val="451239179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3483899532"/>
                    </a:ext>
                  </a:extLst>
                </a:gridCol>
                <a:gridCol w="1568745">
                  <a:extLst>
                    <a:ext uri="{9D8B030D-6E8A-4147-A177-3AD203B41FA5}">
                      <a16:colId xmlns:a16="http://schemas.microsoft.com/office/drawing/2014/main" val="1516676499"/>
                    </a:ext>
                  </a:extLst>
                </a:gridCol>
                <a:gridCol w="1477720">
                  <a:extLst>
                    <a:ext uri="{9D8B030D-6E8A-4147-A177-3AD203B41FA5}">
                      <a16:colId xmlns:a16="http://schemas.microsoft.com/office/drawing/2014/main" val="1779227564"/>
                    </a:ext>
                  </a:extLst>
                </a:gridCol>
                <a:gridCol w="1994094">
                  <a:extLst>
                    <a:ext uri="{9D8B030D-6E8A-4147-A177-3AD203B41FA5}">
                      <a16:colId xmlns:a16="http://schemas.microsoft.com/office/drawing/2014/main" val="920198000"/>
                    </a:ext>
                  </a:extLst>
                </a:gridCol>
              </a:tblGrid>
              <a:tr h="567257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Article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Approach/Method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131807"/>
                  </a:ext>
                </a:extLst>
              </a:tr>
              <a:tr h="5464634"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 Residual U‑Net: Automated Deep Learning‑Based Road Extraction Using </a:t>
                      </a: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DeepGlobe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Dataset, Cartosat‑2 and Sentinel‑2 Imagery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Journal of Innovative Research and Scientific Studies, Vol. 8, Issue 2, 2025, pp. 2047–2064.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just"/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DOI: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10.53894/ijirss.v8i2.5634</a:t>
                      </a:r>
                    </a:p>
                    <a:p>
                      <a:pPr algn="just"/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 Paper: No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Residual U‑Net + Graph Neural Network (</a:t>
                      </a:r>
                      <a:r>
                        <a:rPr lang="en-US" sz="16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GraphSAGE</a:t>
                      </a: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to capture spatial relationships and improve road connectivity in segmentation. Two models: </a:t>
                      </a:r>
                      <a:r>
                        <a:rPr lang="en-US" sz="16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Cartosat</a:t>
                      </a: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‑based &amp; Sentinel‑2‑based.</a:t>
                      </a:r>
                      <a:endParaRPr lang="en-IN" sz="1600" b="0" i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feature extraction, preserves road connectivity, handles complex backgrounds, high accuracy, introduces new Sentinel‑2 labeled dataset.</a:t>
                      </a:r>
                      <a:endParaRPr lang="en-GB" sz="16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Sentinel model has low precision/recall, graph layers increase computation, challenges remain with occlusions/shadows, limited labeled datasets.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Fills major research gaps (GNN +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Cartosat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/Sentinel). Strong architecture direction for future work. Shows promising results and good generalization.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3371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867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8DFF4-454A-7E3E-1CC2-54AEE92CB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37BF8-217F-DAD1-0D0D-D9270A703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400805"/>
            <a:ext cx="8784976" cy="291891"/>
          </a:xfrm>
        </p:spPr>
        <p:txBody>
          <a:bodyPr>
            <a:normAutofit fontScale="90000"/>
          </a:bodyPr>
          <a:lstStyle/>
          <a:p>
            <a:r>
              <a:rPr lang="en-IN" dirty="0"/>
              <a:t>Literature Survey </a:t>
            </a:r>
            <a:br>
              <a:rPr lang="en-IN" dirty="0">
                <a:solidFill>
                  <a:srgbClr val="FF0000"/>
                </a:solidFill>
              </a:rPr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5AA9F-CA43-1419-25FC-CAAA76097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pPr/>
              <a:t>6</a:t>
            </a:fld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0DAB4D9-A221-A1B4-EA23-92A57F272B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899374"/>
              </p:ext>
            </p:extLst>
          </p:nvPr>
        </p:nvGraphicFramePr>
        <p:xfrm>
          <a:off x="251521" y="687862"/>
          <a:ext cx="8640958" cy="60437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8231">
                  <a:extLst>
                    <a:ext uri="{9D8B030D-6E8A-4147-A177-3AD203B41FA5}">
                      <a16:colId xmlns:a16="http://schemas.microsoft.com/office/drawing/2014/main" val="451239179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3483899532"/>
                    </a:ext>
                  </a:extLst>
                </a:gridCol>
                <a:gridCol w="1568745">
                  <a:extLst>
                    <a:ext uri="{9D8B030D-6E8A-4147-A177-3AD203B41FA5}">
                      <a16:colId xmlns:a16="http://schemas.microsoft.com/office/drawing/2014/main" val="1516676499"/>
                    </a:ext>
                  </a:extLst>
                </a:gridCol>
                <a:gridCol w="1477720">
                  <a:extLst>
                    <a:ext uri="{9D8B030D-6E8A-4147-A177-3AD203B41FA5}">
                      <a16:colId xmlns:a16="http://schemas.microsoft.com/office/drawing/2014/main" val="1779227564"/>
                    </a:ext>
                  </a:extLst>
                </a:gridCol>
                <a:gridCol w="1994094">
                  <a:extLst>
                    <a:ext uri="{9D8B030D-6E8A-4147-A177-3AD203B41FA5}">
                      <a16:colId xmlns:a16="http://schemas.microsoft.com/office/drawing/2014/main" val="920198000"/>
                    </a:ext>
                  </a:extLst>
                </a:gridCol>
              </a:tblGrid>
              <a:tr h="567257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Article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Approach/Method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131807"/>
                  </a:ext>
                </a:extLst>
              </a:tr>
              <a:tr h="5464634">
                <a:tc>
                  <a:txBody>
                    <a:bodyPr/>
                    <a:lstStyle/>
                    <a:p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Road Extraction &amp; Change Detection</a:t>
                      </a:r>
                    </a:p>
                    <a:p>
                      <a:r>
                        <a:rPr lang="en-US" sz="16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Journal for Research Trends and Innovation (IJRTI), Vol. 10, Issue 9, September 2025.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r>
                        <a:rPr lang="pt-BR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DOI:</a:t>
                      </a:r>
                      <a:r>
                        <a:rPr lang="pt-B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10.12345/ijrti.v10i9.2509069</a:t>
                      </a:r>
                    </a:p>
                    <a:p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 Paper: No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 + Android app + CNN + Decision Tree. ESP32‑CAM captures road images → uploaded to Firebase → CNN (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TFLite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extracts roads &amp; classifies quality → Decision Tree fuses metadata (traffic, usage, location) for final assessment.</a:t>
                      </a:r>
                      <a:endParaRPr lang="en-IN" sz="1600" b="0" i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Low‑cost IoT setup, real‑time monitoring, hybrid AI improves accuracy, cloud‑based storage, mobile‑friendly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TFLite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model, generates maintenance alerts.</a:t>
                      </a:r>
                      <a:endParaRPr lang="en-GB" sz="16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accuracy depends on dataset quality, limited robustness under shadows/occlusions, IoT hardware may face connectivity/power issues, Decision Tree relies on user‑entered metadata.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Practical smart‑city solution; strong integration of IoT + AI; scalable for government use; future scope includes transformers, more sensors, drone imagery, and edge deployment.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3371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0465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F926F-E7E1-852A-D9FF-7A50D6396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A4428-0A23-0A89-F9A9-03E9DA3B1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400805"/>
            <a:ext cx="8784976" cy="291891"/>
          </a:xfrm>
        </p:spPr>
        <p:txBody>
          <a:bodyPr>
            <a:normAutofit fontScale="90000"/>
          </a:bodyPr>
          <a:lstStyle/>
          <a:p>
            <a:r>
              <a:rPr lang="en-IN" dirty="0"/>
              <a:t>Literature Survey </a:t>
            </a:r>
            <a:br>
              <a:rPr lang="en-IN" dirty="0">
                <a:solidFill>
                  <a:srgbClr val="FF0000"/>
                </a:solidFill>
              </a:rPr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54C39-C48F-3382-819E-42E8FF65B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pPr/>
              <a:t>7</a:t>
            </a:fld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3611ED-2FAB-C597-2F42-7ACDDDEB61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774418"/>
              </p:ext>
            </p:extLst>
          </p:nvPr>
        </p:nvGraphicFramePr>
        <p:xfrm>
          <a:off x="251521" y="687862"/>
          <a:ext cx="8640958" cy="60437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8231">
                  <a:extLst>
                    <a:ext uri="{9D8B030D-6E8A-4147-A177-3AD203B41FA5}">
                      <a16:colId xmlns:a16="http://schemas.microsoft.com/office/drawing/2014/main" val="451239179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3483899532"/>
                    </a:ext>
                  </a:extLst>
                </a:gridCol>
                <a:gridCol w="1568745">
                  <a:extLst>
                    <a:ext uri="{9D8B030D-6E8A-4147-A177-3AD203B41FA5}">
                      <a16:colId xmlns:a16="http://schemas.microsoft.com/office/drawing/2014/main" val="1516676499"/>
                    </a:ext>
                  </a:extLst>
                </a:gridCol>
                <a:gridCol w="1477720">
                  <a:extLst>
                    <a:ext uri="{9D8B030D-6E8A-4147-A177-3AD203B41FA5}">
                      <a16:colId xmlns:a16="http://schemas.microsoft.com/office/drawing/2014/main" val="1779227564"/>
                    </a:ext>
                  </a:extLst>
                </a:gridCol>
                <a:gridCol w="1994094">
                  <a:extLst>
                    <a:ext uri="{9D8B030D-6E8A-4147-A177-3AD203B41FA5}">
                      <a16:colId xmlns:a16="http://schemas.microsoft.com/office/drawing/2014/main" val="920198000"/>
                    </a:ext>
                  </a:extLst>
                </a:gridCol>
              </a:tblGrid>
              <a:tr h="567257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Article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Approach/Method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131807"/>
                  </a:ext>
                </a:extLst>
              </a:tr>
              <a:tr h="5464634">
                <a:tc>
                  <a:txBody>
                    <a:bodyPr/>
                    <a:lstStyle/>
                    <a:p>
                      <a:pPr algn="just"/>
                      <a:r>
                        <a:rPr lang="en-GB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From Pixels to Progress: Generating Road Network from Satellite Imagery for Socioeconomic Insights in Impoverished Areas</a:t>
                      </a:r>
                    </a:p>
                    <a:p>
                      <a:pPr algn="just"/>
                      <a:r>
                        <a:rPr lang="en-GB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Joint Conference on Artificial Intelligence</a:t>
                      </a:r>
                    </a:p>
                    <a:p>
                      <a:pPr algn="just"/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June 2024</a:t>
                      </a:r>
                    </a:p>
                    <a:p>
                      <a:pPr algn="just"/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DOI: https://doi.org/10.1109/TGRS.2018.2870871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images are pre-processed using statistical methods such as Laplacian variance and mean normalization. Thes roads are segmented from these  images using a road segmentation model </a:t>
                      </a:r>
                      <a:r>
                        <a:rPr lang="en-IN" sz="16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CoANet</a:t>
                      </a:r>
                      <a:r>
                        <a:rPr lang="en-IN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followed by Morphological operation, Lastly a graph is extracted using a combustion algorithm.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proposed method achieves much higher recall and F1 than baselines (</a:t>
                      </a:r>
                      <a:r>
                        <a:rPr lang="en-GB" sz="16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RCFSNet</a:t>
                      </a:r>
                      <a:r>
                        <a:rPr lang="en-GB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16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ViT</a:t>
                      </a:r>
                      <a:r>
                        <a:rPr lang="en-GB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and OSM) and reconstructs about 80% of actual road length. It particularly improves the reconstruction of lower-class roads, which are critical in impoverished regions but often missing in OSM.</a:t>
                      </a:r>
                    </a:p>
                    <a:p>
                      <a:pPr algn="just"/>
                      <a:endParaRPr lang="en-GB" sz="16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Provides relatively little systematic analysis of failure cases, such as:</a:t>
                      </a:r>
                    </a:p>
                    <a:p>
                      <a:pPr algn="just"/>
                      <a:r>
                        <a:rPr lang="en-GB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Very dense urban cores, extreme terrains, snow/seasonal effects, or unusual imaging conditions.</a:t>
                      </a:r>
                      <a:br>
                        <a:rPr lang="en-GB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endParaRPr lang="en-GB" sz="16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practical, scalable pipeline for county-level road network extraction.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3371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5930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113F8-CDF4-5C54-5871-724BADF80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3E59C-A6B9-FF5F-EC40-6869BC411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400805"/>
            <a:ext cx="8784976" cy="291891"/>
          </a:xfrm>
        </p:spPr>
        <p:txBody>
          <a:bodyPr>
            <a:normAutofit fontScale="90000"/>
          </a:bodyPr>
          <a:lstStyle/>
          <a:p>
            <a:r>
              <a:rPr lang="en-IN" dirty="0"/>
              <a:t>Literature Survey </a:t>
            </a:r>
            <a:br>
              <a:rPr lang="en-IN" dirty="0">
                <a:solidFill>
                  <a:srgbClr val="FF0000"/>
                </a:solidFill>
              </a:rPr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658A1-B4E3-FFFB-FE81-4CAA25C3D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pPr/>
              <a:t>8</a:t>
            </a:fld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F7B746D-E93A-E7CE-1F54-8BC829B4AF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710683"/>
              </p:ext>
            </p:extLst>
          </p:nvPr>
        </p:nvGraphicFramePr>
        <p:xfrm>
          <a:off x="251521" y="687862"/>
          <a:ext cx="8640958" cy="60437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8231">
                  <a:extLst>
                    <a:ext uri="{9D8B030D-6E8A-4147-A177-3AD203B41FA5}">
                      <a16:colId xmlns:a16="http://schemas.microsoft.com/office/drawing/2014/main" val="451239179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3483899532"/>
                    </a:ext>
                  </a:extLst>
                </a:gridCol>
                <a:gridCol w="1568745">
                  <a:extLst>
                    <a:ext uri="{9D8B030D-6E8A-4147-A177-3AD203B41FA5}">
                      <a16:colId xmlns:a16="http://schemas.microsoft.com/office/drawing/2014/main" val="1516676499"/>
                    </a:ext>
                  </a:extLst>
                </a:gridCol>
                <a:gridCol w="1477720">
                  <a:extLst>
                    <a:ext uri="{9D8B030D-6E8A-4147-A177-3AD203B41FA5}">
                      <a16:colId xmlns:a16="http://schemas.microsoft.com/office/drawing/2014/main" val="1779227564"/>
                    </a:ext>
                  </a:extLst>
                </a:gridCol>
                <a:gridCol w="1994094">
                  <a:extLst>
                    <a:ext uri="{9D8B030D-6E8A-4147-A177-3AD203B41FA5}">
                      <a16:colId xmlns:a16="http://schemas.microsoft.com/office/drawing/2014/main" val="920198000"/>
                    </a:ext>
                  </a:extLst>
                </a:gridCol>
              </a:tblGrid>
              <a:tr h="567257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Article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Approach/Method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131807"/>
                  </a:ext>
                </a:extLst>
              </a:tr>
              <a:tr h="5464634">
                <a:tc>
                  <a:txBody>
                    <a:bodyPr/>
                    <a:lstStyle/>
                    <a:p>
                      <a:pPr algn="just"/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Combining Satellite Imagery and GPS Data for Road Extraction</a:t>
                      </a:r>
                      <a:b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GeoAI@SIGSPATIAL</a:t>
                      </a:r>
                      <a:endParaRPr lang="en-US" sz="16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November 2018</a:t>
                      </a:r>
                    </a:p>
                    <a:p>
                      <a:pPr algn="just"/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DOI: https://doi.org/10.1145/3281548.3281550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paper uses a modified U-Net semantic segmentation network that fuses satellite imagery and GPS data as multi-channel input. </a:t>
                      </a:r>
                      <a:endParaRPr lang="en-IN" sz="1600" b="0" i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main conceptual strength is recognizing and exploiting the complementarity between satellite images and GPS traces. With a relatively small manually </a:t>
                      </a:r>
                      <a:r>
                        <a:rPr lang="en-GB" sz="16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labeled</a:t>
                      </a:r>
                      <a:r>
                        <a:rPr lang="en-GB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dataset (120 images), the RGB-only model achieves modest </a:t>
                      </a:r>
                      <a:r>
                        <a:rPr lang="en-GB" sz="16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mIoU</a:t>
                      </a:r>
                      <a:r>
                        <a:rPr lang="en-GB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but fusing GPS channels boosts </a:t>
                      </a:r>
                      <a:r>
                        <a:rPr lang="en-GB" sz="16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mIoU</a:t>
                      </a:r>
                      <a:r>
                        <a:rPr lang="en-GB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and F1 substantially.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Beyond comparing input combinations (RGB vs RGB+GPS variations), the paper does not explore alternative architectural designs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Provides a demonstration of multimodal fusion for road extraction, showing that relatively simple integration of GPS data into a CNN segmentation pipeline can substantially improve performance over satellite imagery or GPS alone. 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3371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4359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5113D-67C5-0C6E-CE25-119FAC5D9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085CA-9414-3F30-747C-412FCB365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400805"/>
            <a:ext cx="8784976" cy="291891"/>
          </a:xfrm>
        </p:spPr>
        <p:txBody>
          <a:bodyPr>
            <a:normAutofit fontScale="90000"/>
          </a:bodyPr>
          <a:lstStyle/>
          <a:p>
            <a:r>
              <a:rPr lang="en-IN" dirty="0"/>
              <a:t>Literature Survey </a:t>
            </a:r>
            <a:br>
              <a:rPr lang="en-IN" dirty="0">
                <a:solidFill>
                  <a:srgbClr val="FF0000"/>
                </a:solidFill>
              </a:rPr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EDF79-E94C-F911-B3A0-D8AF842DF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pPr/>
              <a:t>9</a:t>
            </a:fld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79268C-2D0A-000C-F547-8959100CB3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293646"/>
              </p:ext>
            </p:extLst>
          </p:nvPr>
        </p:nvGraphicFramePr>
        <p:xfrm>
          <a:off x="251521" y="687862"/>
          <a:ext cx="8640958" cy="60437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8231">
                  <a:extLst>
                    <a:ext uri="{9D8B030D-6E8A-4147-A177-3AD203B41FA5}">
                      <a16:colId xmlns:a16="http://schemas.microsoft.com/office/drawing/2014/main" val="451239179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3483899532"/>
                    </a:ext>
                  </a:extLst>
                </a:gridCol>
                <a:gridCol w="1568745">
                  <a:extLst>
                    <a:ext uri="{9D8B030D-6E8A-4147-A177-3AD203B41FA5}">
                      <a16:colId xmlns:a16="http://schemas.microsoft.com/office/drawing/2014/main" val="1516676499"/>
                    </a:ext>
                  </a:extLst>
                </a:gridCol>
                <a:gridCol w="1477720">
                  <a:extLst>
                    <a:ext uri="{9D8B030D-6E8A-4147-A177-3AD203B41FA5}">
                      <a16:colId xmlns:a16="http://schemas.microsoft.com/office/drawing/2014/main" val="1779227564"/>
                    </a:ext>
                  </a:extLst>
                </a:gridCol>
                <a:gridCol w="1994094">
                  <a:extLst>
                    <a:ext uri="{9D8B030D-6E8A-4147-A177-3AD203B41FA5}">
                      <a16:colId xmlns:a16="http://schemas.microsoft.com/office/drawing/2014/main" val="920198000"/>
                    </a:ext>
                  </a:extLst>
                </a:gridCol>
              </a:tblGrid>
              <a:tr h="567257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Article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Approach/Method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131807"/>
                  </a:ext>
                </a:extLst>
              </a:tr>
              <a:tr h="5464634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Road Extraction from Satellite Imagery Integrating Dense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Depthwise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Dilated Separable Spatial Pyramid Pooling with DeepLabV3+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Replaces ASPP with Dense </a:t>
                      </a:r>
                      <a:r>
                        <a:rPr lang="en-US" sz="16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Depthwise</a:t>
                      </a:r>
                      <a:r>
                        <a:rPr lang="en-US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Dilated Separable Spatial Pyramid Pooling (</a:t>
                      </a:r>
                      <a:r>
                        <a:rPr lang="en-US" sz="16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DenseDDSSPP</a:t>
                      </a:r>
                      <a:r>
                        <a:rPr lang="en-US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and integrates Squeeze-and-Excitation (SE) attention.</a:t>
                      </a:r>
                      <a:endParaRPr lang="en-IN" sz="16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Better multi-scale feature detection and F1 score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high computational resources for training and has a lower FPS for video segmentation.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Achieves state-of-the-art performance while improving efficiency. 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3371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3261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20E3F-9559-2530-F961-76D0D2ADC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80AC6-6FCA-DA6D-21D8-192052AD4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400805"/>
            <a:ext cx="8784976" cy="291891"/>
          </a:xfrm>
        </p:spPr>
        <p:txBody>
          <a:bodyPr>
            <a:normAutofit fontScale="90000"/>
          </a:bodyPr>
          <a:lstStyle/>
          <a:p>
            <a:r>
              <a:rPr lang="en-IN" dirty="0"/>
              <a:t>Literature Survey </a:t>
            </a:r>
            <a:br>
              <a:rPr lang="en-IN" dirty="0">
                <a:solidFill>
                  <a:srgbClr val="FF0000"/>
                </a:solidFill>
              </a:rPr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5AA47-19FC-9B12-B327-425C37325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pPr/>
              <a:t>10</a:t>
            </a:fld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5668DFD-EF5A-F461-B185-F50840922B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30555"/>
              </p:ext>
            </p:extLst>
          </p:nvPr>
        </p:nvGraphicFramePr>
        <p:xfrm>
          <a:off x="251521" y="687862"/>
          <a:ext cx="8640958" cy="60437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8231">
                  <a:extLst>
                    <a:ext uri="{9D8B030D-6E8A-4147-A177-3AD203B41FA5}">
                      <a16:colId xmlns:a16="http://schemas.microsoft.com/office/drawing/2014/main" val="451239179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3483899532"/>
                    </a:ext>
                  </a:extLst>
                </a:gridCol>
                <a:gridCol w="1568745">
                  <a:extLst>
                    <a:ext uri="{9D8B030D-6E8A-4147-A177-3AD203B41FA5}">
                      <a16:colId xmlns:a16="http://schemas.microsoft.com/office/drawing/2014/main" val="1516676499"/>
                    </a:ext>
                  </a:extLst>
                </a:gridCol>
                <a:gridCol w="1477720">
                  <a:extLst>
                    <a:ext uri="{9D8B030D-6E8A-4147-A177-3AD203B41FA5}">
                      <a16:colId xmlns:a16="http://schemas.microsoft.com/office/drawing/2014/main" val="1779227564"/>
                    </a:ext>
                  </a:extLst>
                </a:gridCol>
                <a:gridCol w="1994094">
                  <a:extLst>
                    <a:ext uri="{9D8B030D-6E8A-4147-A177-3AD203B41FA5}">
                      <a16:colId xmlns:a16="http://schemas.microsoft.com/office/drawing/2014/main" val="920198000"/>
                    </a:ext>
                  </a:extLst>
                </a:gridCol>
              </a:tblGrid>
              <a:tr h="567257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Article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Approach/Method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131807"/>
                  </a:ext>
                </a:extLst>
              </a:tr>
              <a:tr h="5464634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Leveraging Transformer Architectures for Automated Building Detection in High-Resolution Satellite Images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PVT(Pyramid Vision Transformer) as backbone with encoder-decoder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Achieves high precision of 0.88 compared to 0.72 without the PVT backbone.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Due to a complex model it is not very suited for live segmentation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Achieves a high accuracy but has achieves poor throughput.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3371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3953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Gaps</a:t>
            </a:r>
            <a:endParaRPr lang="en-IN" dirty="0"/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D9652DFF-881F-9E6D-45A4-25389BE86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350" y="1268760"/>
            <a:ext cx="8826145" cy="492514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800" dirty="0"/>
              <a:t>No high-quality labeled dataset strategy – Problem mentions </a:t>
            </a:r>
            <a:r>
              <a:rPr lang="en-US" sz="2800" dirty="0" err="1"/>
              <a:t>Cartosat</a:t>
            </a:r>
            <a:r>
              <a:rPr lang="en-US" sz="2800" dirty="0"/>
              <a:t>/ </a:t>
            </a:r>
            <a:r>
              <a:rPr lang="en-US" sz="2800" dirty="0" err="1"/>
              <a:t>Resourcesat</a:t>
            </a:r>
            <a:r>
              <a:rPr lang="en-US" sz="2800" dirty="0"/>
              <a:t> data but lacks a clear plan for annotation, ground-truth creation, or leveraging OSM/MoRTH data.</a:t>
            </a:r>
          </a:p>
          <a:p>
            <a:pPr algn="just"/>
            <a:r>
              <a:rPr lang="en-US" sz="2800" dirty="0"/>
              <a:t>Material classification underspecified – Lists example materials (bituminous, concrete, earthen) but no details on class definitions, validation methodology, or how to distinguish them from spectral/textural features.</a:t>
            </a:r>
          </a:p>
          <a:p>
            <a:pPr algn="just"/>
            <a:r>
              <a:rPr lang="en-US" sz="2800" dirty="0"/>
              <a:t>No operational deployment strategy – Pipeline output and integration with Bhuvan/MoRTH systems, runtime efficiency on national-scale mosaics, and uncertainty estimation for downstream users are missing.</a:t>
            </a:r>
          </a:p>
          <a:p>
            <a:pPr algn="just"/>
            <a:r>
              <a:rPr lang="en-US" sz="2800" dirty="0"/>
              <a:t>Generalization gap-does not discuss how to handle very different areas in India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01042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pPr/>
              <a:t>12</a:t>
            </a:fld>
            <a:endParaRPr lang="en-IN" dirty="0"/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C52767E-38F5-AAE6-69F7-88BDE7E49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607" y="1464256"/>
            <a:ext cx="8511473" cy="331236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800" dirty="0"/>
              <a:t>Extracting accurate road networks from high-resolution Indian satellite imagery is difficult due to complex urban layouts, occlusions, and terrain diversity, making manual mapping slow and error-prone. This work proposes an AI-based deep learning segmentation approach to automatically identify and generate reliable road network data for urban planning, navigation, and disaster management.</a:t>
            </a:r>
          </a:p>
          <a:p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90775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772" y="1340768"/>
            <a:ext cx="8697144" cy="5117653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To develop a deep learning segmentation model to accurately extract road interiors and boundaries from high‑resolution </a:t>
            </a:r>
            <a:r>
              <a:rPr lang="en-US" sz="2400" dirty="0" err="1"/>
              <a:t>Cartosat</a:t>
            </a:r>
            <a:r>
              <a:rPr lang="en-US" sz="2400" dirty="0"/>
              <a:t> and </a:t>
            </a:r>
            <a:r>
              <a:rPr lang="en-US" sz="2400" dirty="0" err="1"/>
              <a:t>Resourcesat</a:t>
            </a:r>
            <a:r>
              <a:rPr lang="en-US" sz="2400" dirty="0"/>
              <a:t> satellite imagery.</a:t>
            </a:r>
          </a:p>
          <a:p>
            <a:pPr algn="just"/>
            <a:r>
              <a:rPr lang="en-US" sz="2400" dirty="0"/>
              <a:t>To convert segmented road masks into a topologically correct vector network that preserves geometric features (roundabouts, junctions) and removes noise.</a:t>
            </a:r>
          </a:p>
          <a:p>
            <a:pPr algn="just"/>
            <a:r>
              <a:rPr lang="en-US" sz="2400" dirty="0"/>
              <a:t>To develop a frontend for the user interface to upload satellite streaming link.</a:t>
            </a:r>
          </a:p>
          <a:p>
            <a:pPr algn="just"/>
            <a:r>
              <a:rPr lang="en-US" sz="2400" dirty="0"/>
              <a:t>To develop a fully automated pipeline suitable for integration with ISRO's geospatial platforms (Bhuvan) and government agencies (MoRTH, </a:t>
            </a:r>
            <a:r>
              <a:rPr lang="en-US" sz="2400" dirty="0" err="1"/>
              <a:t>MoUHA</a:t>
            </a:r>
            <a:r>
              <a:rPr lang="en-US" sz="2400" dirty="0"/>
              <a:t>).</a:t>
            </a:r>
          </a:p>
          <a:p>
            <a:pPr algn="just"/>
            <a:r>
              <a:rPr lang="en-US" sz="2400" dirty="0"/>
              <a:t>To export traces to a trace parser to ensure low downtime.</a:t>
            </a:r>
          </a:p>
          <a:p>
            <a:endParaRPr lang="en-US" sz="2400" dirty="0"/>
          </a:p>
          <a:p>
            <a:pPr algn="just">
              <a:lnSpc>
                <a:spcPct val="120000"/>
              </a:lnSpc>
            </a:pP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pPr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5648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34096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800" b="1" dirty="0"/>
              <a:t>Objective 1: </a:t>
            </a:r>
            <a:r>
              <a:rPr lang="en-US" sz="2800" dirty="0"/>
              <a:t>Develop a deep learning segmentation model to accurately extract road interiors and boundaries from high‑resolution </a:t>
            </a:r>
            <a:r>
              <a:rPr lang="en-US" sz="2800" dirty="0" err="1"/>
              <a:t>Cartosat</a:t>
            </a:r>
            <a:r>
              <a:rPr lang="en-US" sz="2800" dirty="0"/>
              <a:t> and </a:t>
            </a:r>
            <a:r>
              <a:rPr lang="en-US" sz="2800" dirty="0" err="1"/>
              <a:t>Resourcesat</a:t>
            </a:r>
            <a:r>
              <a:rPr lang="en-US" sz="2800" dirty="0"/>
              <a:t> satellite imagery.</a:t>
            </a:r>
          </a:p>
          <a:p>
            <a:pPr marL="0" indent="0" algn="just">
              <a:buNone/>
            </a:pPr>
            <a:endParaRPr lang="en-IN" sz="2800" b="1" dirty="0"/>
          </a:p>
          <a:p>
            <a:pPr marL="0" indent="0" algn="just">
              <a:buNone/>
            </a:pPr>
            <a:r>
              <a:rPr lang="en-US" sz="2800" b="1" dirty="0"/>
              <a:t>Status: </a:t>
            </a:r>
            <a:r>
              <a:rPr lang="en-US" sz="2800" dirty="0"/>
              <a:t>Yet to 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pPr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1297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8E7E0-30BF-DD2B-E759-0516106AD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22FA4-AB76-66BE-91BD-A86485B4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4E160-C291-72D2-DC2A-8D44B1316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052935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IN" sz="2800" b="1" dirty="0"/>
              <a:t>Objective 2: </a:t>
            </a:r>
            <a:r>
              <a:rPr lang="en-US" sz="2800" dirty="0"/>
              <a:t>Convert segmented road masks into a topologically correct vector network that preserves geometric features (roundabouts, junctions) and removes noise.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2800" b="1" dirty="0"/>
              <a:t>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800" b="1" dirty="0"/>
              <a:t>Status: </a:t>
            </a:r>
            <a:r>
              <a:rPr lang="en-US" sz="2800" dirty="0"/>
              <a:t>Yet to start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F6958-D037-C24D-2A5A-C833EF85C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pPr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9635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44787-736E-5AF0-D89B-3D1F23D21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DADD7-9684-389C-0905-5A062DDAB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6D7E7-3A79-1865-D53F-8F45D63AA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05293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IN" sz="2800" b="1" dirty="0"/>
              <a:t>Objective 3: </a:t>
            </a:r>
            <a:r>
              <a:rPr lang="en-US" sz="2800" dirty="0"/>
              <a:t>Develop a frontend for the user interface to upload the satellite streaming link.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IN" sz="2800" b="1" dirty="0"/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800" b="1" dirty="0"/>
              <a:t>Status: </a:t>
            </a:r>
            <a:r>
              <a:rPr lang="en-US" sz="2800" dirty="0"/>
              <a:t>Yet to start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5AF3F-05F4-CF60-9113-6A2FFED59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pPr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4240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2C208-D1F5-7837-8A3D-237E27593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C9D54-3EC5-F7E9-BE69-DA776884F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54534-4A51-9F43-7673-2CE9DE112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052935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IN" sz="2800" b="1" dirty="0"/>
              <a:t>Objective 4: </a:t>
            </a:r>
            <a:r>
              <a:rPr lang="en-US" sz="2800" dirty="0"/>
              <a:t>Develop a fully automated pipeline suitable for integration with ISRO's geospatial platforms (Bhuvan) and government agencies (MoRTH, MoUHA).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IN" sz="2800" b="1" dirty="0"/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800" b="1" dirty="0"/>
              <a:t>Status: </a:t>
            </a:r>
            <a:r>
              <a:rPr lang="en-US" sz="2800" dirty="0"/>
              <a:t>Yet to start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C7404-AD4F-C63F-45A4-BBEFB7815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pPr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3175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2C208-D1F5-7837-8A3D-237E27593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C9D54-3EC5-F7E9-BE69-DA776884F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54534-4A51-9F43-7673-2CE9DE112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05293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800" b="1" dirty="0"/>
              <a:t>Objective 5: </a:t>
            </a:r>
            <a:r>
              <a:rPr lang="en-US" sz="2800" dirty="0"/>
              <a:t>To export traces to a trace parser to ensure low downtime.</a:t>
            </a:r>
            <a:endParaRPr lang="en-IN" sz="2800" b="1" dirty="0"/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800" b="1" dirty="0"/>
              <a:t>Status: </a:t>
            </a:r>
            <a:r>
              <a:rPr lang="en-US" sz="2800" dirty="0"/>
              <a:t>Yet to start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C7404-AD4F-C63F-45A4-BBEFB7815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pPr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9248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7391E-D85E-BFB1-A745-48158730C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37802-F75B-583E-7D47-9835845D0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pPr/>
              <a:t>19</a:t>
            </a:fld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9F7BE29-7C9D-FF2C-ABD4-D75FDF8D0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680519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800" dirty="0" err="1"/>
              <a:t>DeepGlobe</a:t>
            </a:r>
            <a:r>
              <a:rPr lang="en-US" sz="2800" dirty="0"/>
              <a:t> Road Extraction Dataset – High-res satellite images with road masks (622 training </a:t>
            </a:r>
            <a:r>
              <a:rPr lang="en-US" sz="2800" dirty="0" err="1"/>
              <a:t>imgs</a:t>
            </a:r>
            <a:r>
              <a:rPr lang="en-US" sz="2800" dirty="0"/>
              <a:t>)​</a:t>
            </a:r>
          </a:p>
          <a:p>
            <a:pPr algn="just"/>
            <a:r>
              <a:rPr lang="en-US" sz="2800" dirty="0" err="1"/>
              <a:t>SpaceNet</a:t>
            </a:r>
            <a:r>
              <a:rPr lang="en-US" sz="2800" dirty="0"/>
              <a:t> Road Network Dataset – Global high-res imagery + vector roads​</a:t>
            </a:r>
          </a:p>
          <a:p>
            <a:pPr algn="just"/>
            <a:r>
              <a:rPr lang="en-US" sz="2800" dirty="0"/>
              <a:t>Massachusetts Road dataset</a:t>
            </a:r>
          </a:p>
          <a:p>
            <a:pPr algn="just"/>
            <a:r>
              <a:rPr lang="en-US" sz="2800" dirty="0"/>
              <a:t>Sentinel-2 Roads Dataset (India) – 5634 patches from 7 Indian cities, OSM labels</a:t>
            </a:r>
            <a:endParaRPr lang="en-US" sz="2800" dirty="0">
              <a:hlinkClick r:id="" action="ppaction://noaction"/>
            </a:endParaRPr>
          </a:p>
          <a:p>
            <a:pPr algn="just"/>
            <a:r>
              <a:rPr lang="en-US" sz="2800" dirty="0">
                <a:hlinkClick r:id="" action="ppaction://noaction"/>
              </a:rPr>
              <a:t>https://bhoonidhi.nrsc.gov.in/bhoonidhi/index.html</a:t>
            </a:r>
            <a:endParaRPr lang="en-US" sz="2800" dirty="0"/>
          </a:p>
          <a:p>
            <a:pPr algn="just"/>
            <a:r>
              <a:rPr lang="en-US" sz="2800" dirty="0"/>
              <a:t>https://bhuvan-app3.nrsc.gov.in/data/download/</a:t>
            </a:r>
          </a:p>
          <a:p>
            <a:pPr algn="just"/>
            <a:r>
              <a:rPr lang="en-US" sz="2800" dirty="0"/>
              <a:t>ISRO RESPOND – Will provide IRS </a:t>
            </a:r>
            <a:r>
              <a:rPr lang="en-US" sz="2800" dirty="0" err="1"/>
              <a:t>Cartosat</a:t>
            </a:r>
            <a:r>
              <a:rPr lang="en-US" sz="2800" dirty="0"/>
              <a:t>/</a:t>
            </a:r>
            <a:r>
              <a:rPr lang="en-US" sz="2800" dirty="0" err="1"/>
              <a:t>Resourcesat</a:t>
            </a:r>
            <a:r>
              <a:rPr lang="en-US" sz="2800" dirty="0"/>
              <a:t> scenes for our project</a:t>
            </a:r>
          </a:p>
        </p:txBody>
      </p:sp>
    </p:spTree>
    <p:extLst>
      <p:ext uri="{BB962C8B-B14F-4D97-AF65-F5344CB8AC3E}">
        <p14:creationId xmlns:p14="http://schemas.microsoft.com/office/powerpoint/2010/main" val="4258875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B2D3C-DF8B-3852-06B9-5E67FF4FA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0B5CF-BCC9-14A1-EFD1-FEC48F251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EA203-F1DC-DE81-8D39-69C10E5A6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pPr/>
              <a:t>20</a:t>
            </a:fld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7F15AD3-8D27-3740-7F32-4B0D45180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680519"/>
          </a:xfrm>
        </p:spPr>
        <p:txBody>
          <a:bodyPr>
            <a:normAutofit/>
          </a:bodyPr>
          <a:lstStyle/>
          <a:p>
            <a:pPr algn="just"/>
            <a:r>
              <a:rPr lang="en-US" sz="2200" dirty="0"/>
              <a:t>SN5: Automated Road Network Extraction and Route Travel Time Estimation from Satellite Imagery</a:t>
            </a:r>
          </a:p>
          <a:p>
            <a:pPr algn="just"/>
            <a:r>
              <a:rPr lang="en-US" sz="2200" dirty="0"/>
              <a:t>The </a:t>
            </a:r>
            <a:r>
              <a:rPr lang="en-US" sz="2200" dirty="0" err="1"/>
              <a:t>SpaceNet</a:t>
            </a:r>
            <a:r>
              <a:rPr lang="en-US" sz="2200" dirty="0"/>
              <a:t> 5 challenge sought to build upon the advances from </a:t>
            </a:r>
            <a:r>
              <a:rPr lang="en-US" sz="2200" dirty="0" err="1"/>
              <a:t>SpaceNet</a:t>
            </a:r>
            <a:r>
              <a:rPr lang="en-US" sz="2200" dirty="0"/>
              <a:t> 3 and test challenge participants to automatically extract road networks and routing information from satellite imagery, along with travel time estimates along all roadways, thereby permitting true optimal routing.</a:t>
            </a:r>
          </a:p>
          <a:p>
            <a:pPr algn="just"/>
            <a:r>
              <a:rPr lang="en-US" sz="2200" dirty="0"/>
              <a:t>The task of this challenge was to output a detailed graph structure with edges corresponding to roadways and nodes corresponding to intersections and end points, with estimates for route travel times on all detected edges</a:t>
            </a:r>
          </a:p>
        </p:txBody>
      </p:sp>
    </p:spTree>
    <p:extLst>
      <p:ext uri="{BB962C8B-B14F-4D97-AF65-F5344CB8AC3E}">
        <p14:creationId xmlns:p14="http://schemas.microsoft.com/office/powerpoint/2010/main" val="4653938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FD5E2-D72C-A1D6-7F6A-42AB7D986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463A5-8328-32AF-B478-409E002FC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9D035-F692-EC24-B4F9-6C35986AA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pPr/>
              <a:t>21</a:t>
            </a:fld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2D8B595-04AD-1A1C-D983-219E85071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68051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/>
              <a:t>SN5: Automated Road Network Extraction and Route Travel Time Estimation from Satellite Imagery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31E9C3-9423-8267-F48D-DE664A5D3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420888"/>
            <a:ext cx="3600953" cy="3581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4B0DA1-CF9D-29EA-8BF8-1E1075A2D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905" y="2420888"/>
            <a:ext cx="3553321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152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4F78D-9B86-F803-F206-4E61B4F31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DCD3A-274B-9B91-4038-21EE1821C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D6C41-47C8-732A-F75D-3B68B15E1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pPr/>
              <a:t>22</a:t>
            </a:fld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8A5F64-C04E-CA26-41B1-83930CA81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68051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200" dirty="0" err="1"/>
              <a:t>SpaceNet</a:t>
            </a:r>
            <a:r>
              <a:rPr lang="en-US" sz="2200" dirty="0"/>
              <a:t> 3: Road Network Detection</a:t>
            </a:r>
          </a:p>
          <a:p>
            <a:pPr algn="just"/>
            <a:r>
              <a:rPr lang="en-US" sz="2200" dirty="0"/>
              <a:t>The commercialization of the geospatial industry has led to an explosive amount of data being collected to characterize our changing planet. </a:t>
            </a:r>
          </a:p>
          <a:p>
            <a:pPr algn="just"/>
            <a:r>
              <a:rPr lang="en-US" sz="2200" dirty="0"/>
              <a:t>One area for innovation is the application of computer vision and deep learning to extract information from satellite imagery at scale. </a:t>
            </a:r>
            <a:r>
              <a:rPr lang="en-US" sz="2200" dirty="0" err="1"/>
              <a:t>CosmiQ</a:t>
            </a:r>
            <a:r>
              <a:rPr lang="en-US" sz="2200" dirty="0"/>
              <a:t> Works, Radiant Solutions and NVIDIA have partnered to release the </a:t>
            </a:r>
            <a:r>
              <a:rPr lang="en-US" sz="2200" dirty="0" err="1"/>
              <a:t>SpaceNet</a:t>
            </a:r>
            <a:r>
              <a:rPr lang="en-US" sz="2200" dirty="0"/>
              <a:t> data set to the public to enable developers and data scientists to work with this data.</a:t>
            </a:r>
          </a:p>
        </p:txBody>
      </p:sp>
    </p:spTree>
    <p:extLst>
      <p:ext uri="{BB962C8B-B14F-4D97-AF65-F5344CB8AC3E}">
        <p14:creationId xmlns:p14="http://schemas.microsoft.com/office/powerpoint/2010/main" val="24537014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DE2D0-E922-3F22-D82F-77E7AD1AA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A1D7B-5FBE-8D5C-B194-FD78510C0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D03AD-A305-AC06-A8FC-C740978C5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pPr/>
              <a:t>23</a:t>
            </a:fld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87F1EF9-B501-37BB-9015-C5A44DE3D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6805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SN5: Automated Road Network Extraction and Route Travel Time Estimation from Satellite Imagery</a:t>
            </a:r>
          </a:p>
        </p:txBody>
      </p:sp>
      <p:pic>
        <p:nvPicPr>
          <p:cNvPr id="3074" name="Picture 2" descr="SpaceNet 3: Road Network Detection">
            <a:extLst>
              <a:ext uri="{FF2B5EF4-FFF2-40B4-BE49-F238E27FC236}">
                <a16:creationId xmlns:a16="http://schemas.microsoft.com/office/drawing/2014/main" id="{830D118F-B57D-1A62-A361-22470B39A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7" y="2420888"/>
            <a:ext cx="3600400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44682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65327-1F01-B38B-2EBF-AAFFF7EDE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561D3-42BB-4487-00C3-AD8097CA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00783-B79A-8887-C499-4A4A3E8B7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pPr/>
              <a:t>24</a:t>
            </a:fld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73D47DB-67F6-6C5F-1410-75440FC14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680519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sz="3600" dirty="0"/>
              <a:t>Massachusetts Roads Dataset</a:t>
            </a:r>
            <a:endParaRPr lang="en-US" sz="3400" dirty="0"/>
          </a:p>
          <a:p>
            <a:pPr algn="just"/>
            <a:r>
              <a:rPr lang="en-US" dirty="0"/>
              <a:t>The Massachusetts Roads Dataset consists of 1171 aerial images of the state of Massachusetts. Each image is 1500×1500 pixels in size, covering an area of 2.25 square kilometers. </a:t>
            </a:r>
          </a:p>
          <a:p>
            <a:pPr algn="just"/>
            <a:r>
              <a:rPr lang="en-US" dirty="0"/>
              <a:t>We randomly split the data into a training set of 1108 images, a validation set of 14 images and a test set of 49 images. The dataset covers a wide variety of urban, suburban, and rural regions and covers an area of over 2600 square kilometers. </a:t>
            </a:r>
          </a:p>
          <a:p>
            <a:pPr algn="just"/>
            <a:r>
              <a:rPr lang="en-US" dirty="0"/>
              <a:t>The test set alone covers over 110 square kilometers. The target maps were generated by rasterizing road centerlines obtained from the OpenStreetMap project. A line thickness of 7 pixels and no smoothing was used in generating the labels. All imagery is rescaled to a resolution of 1 pixel per square meter.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118261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3EA61-FF6C-9278-6743-D9F7DB71D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C16F9-3EFD-CBF6-A609-5B6DC933C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A8833-6F77-0C52-15C0-2D77FE167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pPr/>
              <a:t>25</a:t>
            </a:fld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F4474C-B337-90ED-E924-BBAF298DF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6805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/>
              <a:t>SpaceNet</a:t>
            </a:r>
            <a:r>
              <a:rPr lang="en-US" sz="2000" dirty="0"/>
              <a:t> 3: Road Network Detection</a:t>
            </a:r>
          </a:p>
        </p:txBody>
      </p:sp>
      <p:pic>
        <p:nvPicPr>
          <p:cNvPr id="2050" name="Picture 2" descr="Massachusetts Roads Dataset | Kaggle">
            <a:extLst>
              <a:ext uri="{FF2B5EF4-FFF2-40B4-BE49-F238E27FC236}">
                <a16:creationId xmlns:a16="http://schemas.microsoft.com/office/drawing/2014/main" id="{7D6CA2D5-E267-155C-8252-58DAE837F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440" y="1949301"/>
            <a:ext cx="4509120" cy="450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39000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en-IN" dirty="0"/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B118CB-20BE-C073-49FB-0D7111731CA6}"/>
              </a:ext>
            </a:extLst>
          </p:cNvPr>
          <p:cNvSpPr txBox="1"/>
          <p:nvPr/>
        </p:nvSpPr>
        <p:spPr>
          <a:xfrm>
            <a:off x="489046" y="1274072"/>
            <a:ext cx="7272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5D07E1-0A40-46E9-A3D1-3AA3F992C9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20888"/>
            <a:ext cx="9144000" cy="280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6625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792088"/>
          </a:xfrm>
        </p:spPr>
        <p:txBody>
          <a:bodyPr>
            <a:normAutofit/>
          </a:bodyPr>
          <a:lstStyle/>
          <a:p>
            <a:r>
              <a:rPr lang="en-GB" dirty="0">
                <a:latin typeface="Times New Roman"/>
                <a:ea typeface="+mj-lt"/>
                <a:cs typeface="+mj-lt"/>
              </a:rPr>
              <a:t>Applications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8DD41EF-25AF-43BD-912D-F185BAF5385A}"/>
              </a:ext>
            </a:extLst>
          </p:cNvPr>
          <p:cNvSpPr txBox="1">
            <a:spLocks/>
          </p:cNvSpPr>
          <p:nvPr/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endParaRPr lang="en-US" b="1" dirty="0">
              <a:latin typeface="Times New Roman"/>
              <a:cs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t>27</a:t>
            </a:fld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D10EA-7287-DA18-D7B0-EC49D0675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680519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800" dirty="0"/>
              <a:t>Road maintenance planning – Help MoRTH prioritize pothole repairs and upgrades using updated road maps from satellite data.</a:t>
            </a:r>
          </a:p>
          <a:p>
            <a:pPr algn="just"/>
            <a:r>
              <a:rPr lang="en-US" sz="2800" dirty="0"/>
              <a:t>Rural road monitoring – Track new earthen/paved roads under PMGSY scheme across villages using periodic satellite scans.</a:t>
            </a:r>
          </a:p>
          <a:p>
            <a:pPr algn="just"/>
            <a:r>
              <a:rPr lang="en-US" sz="2800" dirty="0"/>
              <a:t>Disaster response mapping – Identify accessible roads after floods/monsoons for relief operations in affected districts.</a:t>
            </a:r>
          </a:p>
          <a:p>
            <a:pPr algn="just"/>
            <a:r>
              <a:rPr lang="en-US" sz="2800" dirty="0"/>
              <a:t>Urban navigation updates – Improve Google Maps/OpenStreetMap coverage in tier-2/3 cities with student-validated road networks.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845890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113" y="1203405"/>
            <a:ext cx="8229600" cy="5112568"/>
          </a:xfrm>
        </p:spPr>
        <p:txBody>
          <a:bodyPr>
            <a:normAutofit fontScale="77500" lnSpcReduction="20000"/>
          </a:bodyPr>
          <a:lstStyle/>
          <a:p>
            <a:pPr algn="just">
              <a:buNone/>
            </a:pPr>
            <a:r>
              <a:rPr lang="en-GB" sz="1800" dirty="0"/>
              <a:t>[1]</a:t>
            </a:r>
          </a:p>
          <a:p>
            <a:pPr algn="just">
              <a:buNone/>
            </a:pPr>
            <a:r>
              <a:rPr lang="en-GB" sz="1800" dirty="0"/>
              <a:t>[2]</a:t>
            </a:r>
            <a:endParaRPr lang="en-GB" sz="2300" dirty="0"/>
          </a:p>
          <a:p>
            <a:pPr algn="just">
              <a:buNone/>
            </a:pPr>
            <a:r>
              <a:rPr lang="en-GB" sz="2300" dirty="0"/>
              <a:t>[3]</a:t>
            </a:r>
            <a:r>
              <a:rPr lang="en-US" sz="2300" dirty="0"/>
              <a:t> Mahara, A., Khan, M. R. K., Deng, L., Rishe, N., Wang, W., and Sadjadi, S. M., “Automated Road Extraction from Satellite Imagery Integrating Dense </a:t>
            </a:r>
            <a:r>
              <a:rPr lang="en-US" sz="2300" dirty="0" err="1"/>
              <a:t>Depthwise</a:t>
            </a:r>
            <a:r>
              <a:rPr lang="en-US" sz="2300" dirty="0"/>
              <a:t> Dilated Separable Spatial Pyramid Pooling with DeepLabV3+,” </a:t>
            </a:r>
            <a:r>
              <a:rPr lang="en-US" sz="2300" i="1" dirty="0"/>
              <a:t>Applied Sciences</a:t>
            </a:r>
            <a:r>
              <a:rPr lang="en-US" sz="2300" dirty="0"/>
              <a:t>, vol. 15, no. 3, p. 1027, Jan. 2025, </a:t>
            </a:r>
            <a:r>
              <a:rPr lang="en-US" sz="2300" dirty="0" err="1"/>
              <a:t>doi</a:t>
            </a:r>
            <a:r>
              <a:rPr lang="en-US" sz="2300" dirty="0"/>
              <a:t>: 10.3390/app15031027.</a:t>
            </a:r>
            <a:endParaRPr lang="en-GB" sz="2300" dirty="0"/>
          </a:p>
          <a:p>
            <a:pPr algn="just">
              <a:buNone/>
            </a:pPr>
            <a:r>
              <a:rPr lang="en-GB" sz="2300" dirty="0"/>
              <a:t>[4]</a:t>
            </a:r>
            <a:r>
              <a:rPr lang="en-US" sz="2300" dirty="0"/>
              <a:t> </a:t>
            </a:r>
            <a:r>
              <a:rPr lang="en-GB" sz="2300" dirty="0"/>
              <a:t>T. P. Shinde, A. R. </a:t>
            </a:r>
            <a:r>
              <a:rPr lang="en-GB" sz="2300" dirty="0" err="1"/>
              <a:t>Mandale</a:t>
            </a:r>
            <a:r>
              <a:rPr lang="en-GB" sz="2300" dirty="0"/>
              <a:t>, A. U. Shinde, S. D. </a:t>
            </a:r>
            <a:r>
              <a:rPr lang="en-GB" sz="2300" dirty="0" err="1"/>
              <a:t>Shirtsath</a:t>
            </a:r>
            <a:r>
              <a:rPr lang="en-GB" sz="2300" dirty="0"/>
              <a:t> and S. T. Patil, “Automated Road Extraction &amp; Change Detection,” </a:t>
            </a:r>
            <a:r>
              <a:rPr lang="en-GB" sz="2300" i="1" dirty="0"/>
              <a:t>International Journal for Research Trends and Innovation (IJRTI)</a:t>
            </a:r>
            <a:r>
              <a:rPr lang="en-GB" sz="2300" dirty="0"/>
              <a:t>, vol. 10, no. 9, pp. a614–a618, Sep. 2025.</a:t>
            </a:r>
            <a:endParaRPr lang="en-US" sz="2300" dirty="0"/>
          </a:p>
          <a:p>
            <a:pPr algn="just">
              <a:buNone/>
            </a:pPr>
            <a:r>
              <a:rPr lang="en-US" sz="2300" dirty="0"/>
              <a:t>T. Sun, Z. Di, and Y. Wang, “Combining Satellite Imagery and GPS Data for Road Extraction,” in </a:t>
            </a:r>
            <a:r>
              <a:rPr lang="en-US" sz="2300" i="1" dirty="0"/>
              <a:t>Proc. 2nd ACM SIGSPATIAL Int. Workshop on AI for Geographic Knowledge Discovery (GeoAI’18)</a:t>
            </a:r>
            <a:r>
              <a:rPr lang="en-US" sz="2300" dirty="0"/>
              <a:t>, Seattle, WA, USA, Nov. 2018, pp. 1–4, </a:t>
            </a:r>
            <a:r>
              <a:rPr lang="en-US" sz="2300" dirty="0" err="1"/>
              <a:t>doi</a:t>
            </a:r>
            <a:r>
              <a:rPr lang="en-US" sz="2300" dirty="0"/>
              <a:t>: 10.1145/3281548.3281550.</a:t>
            </a:r>
            <a:endParaRPr lang="en-GB" sz="2300" dirty="0"/>
          </a:p>
          <a:p>
            <a:pPr algn="just">
              <a:buNone/>
            </a:pPr>
            <a:r>
              <a:rPr lang="en-GB" sz="2300" dirty="0"/>
              <a:t>[5]</a:t>
            </a:r>
            <a:r>
              <a:rPr lang="en-US" sz="2300" dirty="0"/>
              <a:t> Y. Xi, Y. Liu, Z. Liu, S. </a:t>
            </a:r>
            <a:r>
              <a:rPr lang="en-US" sz="2300" dirty="0" err="1"/>
              <a:t>Tarkoma</a:t>
            </a:r>
            <a:r>
              <a:rPr lang="en-US" sz="2300" dirty="0"/>
              <a:t>, P. Hui, and Y. Li, “From Pixels to Progress: Generating Road Network from Satellite Imagery for Socioeconomic Insights in Impoverished Areas,” </a:t>
            </a:r>
            <a:r>
              <a:rPr lang="en-US" sz="2300" i="1" dirty="0" err="1"/>
              <a:t>arXiv</a:t>
            </a:r>
            <a:r>
              <a:rPr lang="en-US" sz="2300" dirty="0"/>
              <a:t> preprint arXiv:2406.11282, 2024, </a:t>
            </a:r>
            <a:r>
              <a:rPr lang="en-US" sz="2300" dirty="0" err="1"/>
              <a:t>doi</a:t>
            </a:r>
            <a:r>
              <a:rPr lang="en-US" sz="2300" dirty="0"/>
              <a:t>: 10.48550/arXiv.2406.11282.</a:t>
            </a:r>
            <a:endParaRPr lang="en-GB" sz="2300" dirty="0"/>
          </a:p>
          <a:p>
            <a:pPr algn="just">
              <a:buNone/>
            </a:pPr>
            <a:r>
              <a:rPr lang="en-GB" sz="2300" dirty="0"/>
              <a:t>[6]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57734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6000" dirty="0"/>
              <a:t>Thank You</a:t>
            </a:r>
            <a:endParaRPr lang="en-IN" sz="6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9084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6000" dirty="0"/>
              <a:t>Question &amp; Answer</a:t>
            </a:r>
            <a:endParaRPr lang="en-IN" sz="6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3A13-1AF7-4133-9DD0-E673BF3672EC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591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3480</TotalTime>
  <Words>2432</Words>
  <Application>Microsoft Office PowerPoint</Application>
  <PresentationFormat>On-screen Show (4:3)</PresentationFormat>
  <Paragraphs>215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Garamond</vt:lpstr>
      <vt:lpstr>Times New Roman</vt:lpstr>
      <vt:lpstr>Wingdings</vt:lpstr>
      <vt:lpstr>Office Theme</vt:lpstr>
      <vt:lpstr>PowerPoint Presentation</vt:lpstr>
      <vt:lpstr>Outline</vt:lpstr>
      <vt:lpstr>Introduction</vt:lpstr>
      <vt:lpstr>Motivation</vt:lpstr>
      <vt:lpstr>Literature Survey  </vt:lpstr>
      <vt:lpstr>Literature Survey  </vt:lpstr>
      <vt:lpstr>Literature Survey  </vt:lpstr>
      <vt:lpstr>Literature Survey  </vt:lpstr>
      <vt:lpstr>Literature Survey  </vt:lpstr>
      <vt:lpstr>Literature Survey  </vt:lpstr>
      <vt:lpstr>Gaps</vt:lpstr>
      <vt:lpstr>Problem Statement</vt:lpstr>
      <vt:lpstr>Objectives</vt:lpstr>
      <vt:lpstr>Objectives</vt:lpstr>
      <vt:lpstr>Objectives</vt:lpstr>
      <vt:lpstr>Objectives</vt:lpstr>
      <vt:lpstr>Objectives</vt:lpstr>
      <vt:lpstr>Objectives</vt:lpstr>
      <vt:lpstr>Dataset</vt:lpstr>
      <vt:lpstr>Dataset</vt:lpstr>
      <vt:lpstr>Dataset</vt:lpstr>
      <vt:lpstr>Dataset</vt:lpstr>
      <vt:lpstr>Dataset</vt:lpstr>
      <vt:lpstr>Dataset</vt:lpstr>
      <vt:lpstr>Dataset</vt:lpstr>
      <vt:lpstr>Methodology</vt:lpstr>
      <vt:lpstr>Applications</vt:lpstr>
      <vt:lpstr>References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Priya</dc:creator>
  <cp:lastModifiedBy>bsk anubala</cp:lastModifiedBy>
  <cp:revision>310</cp:revision>
  <dcterms:created xsi:type="dcterms:W3CDTF">2022-06-24T08:48:14Z</dcterms:created>
  <dcterms:modified xsi:type="dcterms:W3CDTF">2026-02-11T13:06:07Z</dcterms:modified>
</cp:coreProperties>
</file>